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  <p:sldId id="272" r:id="rId8"/>
    <p:sldId id="264" r:id="rId9"/>
    <p:sldId id="266" r:id="rId10"/>
    <p:sldId id="269" r:id="rId11"/>
    <p:sldId id="270" r:id="rId12"/>
    <p:sldId id="267" r:id="rId13"/>
    <p:sldId id="271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013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576" y="1700808"/>
            <a:ext cx="784887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DIVISION OF ARTIFICIAL INTELLIGENCE AND MACHINE LEARNING</a:t>
            </a:r>
          </a:p>
          <a:p>
            <a:pPr algn="ctr"/>
            <a:r>
              <a:rPr lang="en-US" sz="1400" b="1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SCHOOL OF COMPUTER SCIENCE AND TECHNOLOGY </a:t>
            </a:r>
          </a:p>
          <a:p>
            <a:pPr algn="ctr"/>
            <a:r>
              <a:rPr lang="en-US" altLang="en-US" sz="1600" b="1" dirty="0">
                <a:solidFill>
                  <a:srgbClr val="7030A0"/>
                </a:solidFill>
                <a:latin typeface="Times New Roman" pitchFamily="18" charset="0"/>
                <a:ea typeface="Verdana" pitchFamily="34" charset="0"/>
              </a:rPr>
              <a:t>MP2911 MINI PROJECT</a:t>
            </a:r>
          </a:p>
          <a:p>
            <a:pPr lvl="0" algn="ctr" latinLnBrk="1"/>
            <a:r>
              <a:rPr lang="en-US" sz="1600" b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EVEN SEMESTER 2025-2026 </a:t>
            </a:r>
          </a:p>
          <a:p>
            <a:pPr algn="ctr"/>
            <a:r>
              <a:rPr lang="en-US" sz="1600" b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FINAL REVIEW- 18/04/2026</a:t>
            </a:r>
            <a:endParaRPr lang="en-IN" sz="16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57808" y="3551521"/>
            <a:ext cx="78488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"AI-BASED SOLAR POWER PREDICTION USING SATELLITE WEATHER DATA"</a:t>
            </a:r>
            <a:endParaRPr lang="en-IN" sz="2000" dirty="0"/>
          </a:p>
        </p:txBody>
      </p:sp>
      <p:sp>
        <p:nvSpPr>
          <p:cNvPr id="7" name="Rectangle 6"/>
          <p:cNvSpPr/>
          <p:nvPr/>
        </p:nvSpPr>
        <p:spPr>
          <a:xfrm>
            <a:off x="237360" y="4721352"/>
            <a:ext cx="38012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SUPERVISED BY</a:t>
            </a:r>
          </a:p>
          <a:p>
            <a:endParaRPr lang="en-IN" sz="1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Jemmy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Joyce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, Asst. Professor</a:t>
            </a:r>
            <a:endParaRPr lang="en-IN" sz="1400" b="1" dirty="0"/>
          </a:p>
        </p:txBody>
      </p:sp>
      <p:sp>
        <p:nvSpPr>
          <p:cNvPr id="8" name="Rectangle 7"/>
          <p:cNvSpPr/>
          <p:nvPr/>
        </p:nvSpPr>
        <p:spPr>
          <a:xfrm>
            <a:off x="4482244" y="4721352"/>
            <a:ext cx="44716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just"/>
            <a:endParaRPr lang="en-IN" sz="1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Dinesh  Raj Pal Reddy K.                 (URK23CS7107)</a:t>
            </a:r>
          </a:p>
          <a:p>
            <a:pPr algn="just"/>
            <a:endParaRPr lang="en-IN" sz="1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 descr="Home | Karunya Institute of Technology and Sciences | NAAC A++ Accredited |  Best Univers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44" y="304800"/>
            <a:ext cx="7361064" cy="122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42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PROPOSED METHODOLOGY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MODULES DESCRIPTION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IMPLEMENTATION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RESULTS AND DISCUSSION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OUTPUT-SCREENSHOTS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US" dirty="0"/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3400" y="609600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657943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None/>
            </a:pPr>
            <a:r>
              <a:rPr lang="en-US" sz="1300" b="0" dirty="0">
                <a:solidFill>
                  <a:srgbClr val="000000"/>
                </a:solidFill>
              </a:rPr>
              <a:t>SolarAI is a deep learning framework for solar photovoltaic (PV) power generation forecasting</a:t>
            </a:r>
          </a:p>
          <a:p>
            <a:pPr marL="342900" lvl="0" indent="-342900">
              <a:buNone/>
            </a:pPr>
            <a:r>
              <a:rPr lang="en-US" sz="1300" b="0" dirty="0">
                <a:solidFill>
                  <a:srgbClr val="000000"/>
                </a:solidFill>
              </a:rPr>
              <a:t>using NASA POWER satellite weather data — available freely for any location on Earth.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300" b="0" dirty="0">
                <a:solidFill>
                  <a:srgbClr val="000000"/>
                </a:solidFill>
              </a:rPr>
              <a:t>The system employs a CNN-BiLSTM-Attention architecture combining multi-scale convolutional</a:t>
            </a:r>
          </a:p>
          <a:p>
            <a:pPr marL="342900" lvl="0" indent="-342900">
              <a:buNone/>
            </a:pPr>
            <a:r>
              <a:rPr lang="en-US" sz="1300" b="0" dirty="0">
                <a:solidFill>
                  <a:srgbClr val="000000"/>
                </a:solidFill>
              </a:rPr>
              <a:t>neural networks, stacked Bidirectional LSTMs, and Multi-Head Self-Attention with gated</a:t>
            </a:r>
          </a:p>
          <a:p>
            <a:pPr marL="342900" lvl="0" indent="-342900">
              <a:buNone/>
            </a:pPr>
            <a:r>
              <a:rPr lang="en-US" sz="1300" b="0" dirty="0">
                <a:solidFill>
                  <a:srgbClr val="000000"/>
                </a:solidFill>
              </a:rPr>
              <a:t>Squeeze-Excitation for accurate predictions over 24h, 48h, 72h, and 168-hour horizons.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300" b="0" dirty="0">
                <a:solidFill>
                  <a:srgbClr val="000000"/>
                </a:solidFill>
              </a:rPr>
              <a:t>57 deterministic engineered features are derived from hourly satellite meteorological data —</a:t>
            </a:r>
          </a:p>
          <a:p>
            <a:pPr marL="342900" lvl="0" indent="-342900">
              <a:buNone/>
            </a:pPr>
            <a:r>
              <a:rPr lang="en-US" sz="1300" b="0" dirty="0">
                <a:solidFill>
                  <a:srgbClr val="000000"/>
                </a:solidFill>
              </a:rPr>
              <a:t>GHI, temperature, humidity, wind speed, pressure and cloud cover.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300" b="1" dirty="0">
                <a:solidFill>
                  <a:srgbClr val="000000"/>
                </a:solidFill>
              </a:rPr>
              <a:t>Key Results: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R² Score : 0.9899   |   MAE : 0.01234   |   Accuracy : </a:t>
            </a:r>
            <a:r>
              <a:rPr lang="en-US" sz="1300" dirty="0">
                <a:solidFill>
                  <a:srgbClr val="000000"/>
                </a:solidFill>
              </a:rPr>
              <a:t>90.7</a:t>
            </a:r>
            <a:r>
              <a:rPr lang="en-US" sz="1300" b="0" dirty="0">
                <a:solidFill>
                  <a:srgbClr val="000000"/>
                </a:solidFill>
              </a:rPr>
              <a:t>%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Forecast horizons : 24h / 48h / 72h / 168h (7 days)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Battery optimisation with hourly INR savings estimation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Docker containerised + AWS ECS Fargate production deployment (~$33/month)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300" b="0" dirty="0">
                <a:solidFill>
                  <a:srgbClr val="000000"/>
                </a:solidFill>
              </a:rPr>
              <a:t>The complete system is delivered as an interactive Streamlit web dashboard with a</a:t>
            </a:r>
          </a:p>
          <a:p>
            <a:pPr marL="342900" lvl="0" indent="-342900">
              <a:buNone/>
            </a:pPr>
            <a:r>
              <a:rPr lang="en-US" sz="1300" b="0" dirty="0">
                <a:solidFill>
                  <a:srgbClr val="000000"/>
                </a:solidFill>
              </a:rPr>
              <a:t>world-map location picker, cloud cover heatmap, battery schedule, and model metrics.</a:t>
            </a:r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3400" y="1015046"/>
            <a:ext cx="18630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32383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None/>
            </a:pPr>
            <a:r>
              <a:rPr lang="en-US" sz="1400" b="1" dirty="0">
                <a:solidFill>
                  <a:srgbClr val="000000"/>
                </a:solidFill>
              </a:rPr>
              <a:t>Aim of the Project: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To develop an AI-powered solar power forecasting system using NASA POWER satellite data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that achieves daytime forecast accuracy of 88–95% over 24h to 168h horizons.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0000"/>
                </a:solidFill>
              </a:rPr>
              <a:t>Scope of the Project: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Design a CNN-BiLSTM-Attention deep learning model with 57 engineered features.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Build a globally applicable pipeline — any latitude/longitude on Earth via NASA POWER API.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Achieve R² &gt; 0.98, MAE &lt; 0.02, and daytime accuracy &gt; </a:t>
            </a:r>
            <a:r>
              <a:rPr lang="en-US" sz="1300" dirty="0">
                <a:solidFill>
                  <a:srgbClr val="000000"/>
                </a:solidFill>
              </a:rPr>
              <a:t>90.7</a:t>
            </a:r>
            <a:r>
              <a:rPr lang="en-US" sz="1300" b="0" dirty="0">
                <a:solidFill>
                  <a:srgbClr val="000000"/>
                </a:solidFill>
              </a:rPr>
              <a:t>%.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Implement rule-based battery storage optimisation with hourly INR savings computation.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Containerise the application with Docker and deploy on AWS ECS Fargate.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Create an interactive Streamlit dashboard with world-map picker, cloud heatmap, and</a:t>
            </a:r>
          </a:p>
          <a:p>
            <a:pPr marL="571500" lvl="1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  downloadable forecast and battery schedule CSV exports.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Support multi-year training (1–7 years) for progressive accuracy improvement.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0000"/>
                </a:solidFill>
              </a:rPr>
              <a:t>Expected Outcomes: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R² = 0.9752,  Accuracy = </a:t>
            </a:r>
            <a:r>
              <a:rPr lang="en-US" sz="1300" dirty="0">
                <a:solidFill>
                  <a:srgbClr val="000000"/>
                </a:solidFill>
              </a:rPr>
              <a:t>90.7</a:t>
            </a:r>
            <a:r>
              <a:rPr lang="en-US" sz="1300" b="0" dirty="0">
                <a:solidFill>
                  <a:srgbClr val="000000"/>
                </a:solidFill>
              </a:rPr>
              <a:t>%,  MAE = 0.01234  on held-out test data.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Production-ready Docker container + AWS Fargate deployment at ~$33 USD/month.</a:t>
            </a:r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3400" y="914400"/>
            <a:ext cx="21355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OBJECTIVES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3639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None/>
            </a:pPr>
            <a:r>
              <a:rPr lang="en-US" sz="1400" b="1" dirty="0">
                <a:solidFill>
                  <a:srgbClr val="000000"/>
                </a:solidFill>
              </a:rPr>
              <a:t>Background: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Solar PV is the fastest-growing energy source — 191 GW added in 2022 (IRENA).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Intermittency of solar generation creates critical challenges for grid operators.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Accurate forecasting is essential for battery scheduling, market bidding, and dispatch.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0000"/>
                </a:solidFill>
              </a:rPr>
              <a:t>Why Deep Learning?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Traditional NWP models are expensive and require meteorological expertise.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Statistical models (ARIMA) miss nonlinear irradiance patterns.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Deep learning learns complex multi-variate feature interactions directly from satellite data.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0000"/>
                </a:solidFill>
              </a:rPr>
              <a:t>Why NASA POWER?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Free API — any latitude/longitude, hourly, 2001–2024, no sensor required.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MERRA-2 reanalysis: GHI within 8–12% of ground pyranometer readings.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Enables truly global, location-agnostic solar forecasting.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0000"/>
                </a:solidFill>
              </a:rPr>
              <a:t>Proposed System — SolarAI: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End-to-end pipeline: NASA data → 57-feature engineering → CNN-BiLSTM-Attention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→ Multi-horizon forecast → Battery optimisation → Streamlit dashboard → Docker/AWS.</a:t>
            </a:r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" y="838200"/>
            <a:ext cx="2650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435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None/>
            </a:pPr>
            <a:r>
              <a:rPr lang="en-US" sz="1400" b="1" dirty="0">
                <a:solidFill>
                  <a:srgbClr val="C00000"/>
                </a:solidFill>
              </a:rPr>
              <a:t>1. Ground-Sensor Dependency: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Most deep learning models require on-site pyranometers unavailable for rural/remote regions.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C00000"/>
                </a:solidFill>
              </a:rPr>
              <a:t>2. Single-Location Lock-in: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Models trained for one site cannot be deployed at a new location without full retraining.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C00000"/>
                </a:solidFill>
              </a:rPr>
              <a:t>3. Training-Inference Feature Mismatch: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Re-fitting scalers at inference causes ValueError: expected shape (1,24,58), got (1,24,52).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No existing production system handles deterministic feature alignment robustly.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C00000"/>
                </a:solidFill>
              </a:rPr>
              <a:t>4. No Production Deployment: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Academic forecasting models are not packaged as deployable cloud applications.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C00000"/>
                </a:solidFill>
              </a:rPr>
              <a:t>5. No Battery Integration: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Battery storage optimisation is always decoupled from the forecasting system in prior work.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→ SolarAI closes all five gaps simultaneously.</a:t>
            </a:r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" y="609600"/>
            <a:ext cx="3704091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232468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4D67E-560E-BF08-1807-42A7A95D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EA2B7-50D7-C173-4B5E-1D1E45AC5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Char char="•"/>
            </a:pPr>
            <a:r>
              <a:rPr lang="en-US" sz="1200" b="1" dirty="0">
                <a:solidFill>
                  <a:srgbClr val="002060"/>
                </a:solidFill>
              </a:rPr>
              <a:t>Ref.   Author / Year            Method                Best Metric    Key Gap</a:t>
            </a:r>
          </a:p>
          <a:p>
            <a:pPr marL="342900" lvl="0" indent="-342900">
              <a:buNone/>
            </a:pPr>
            <a:r>
              <a:rPr lang="en-US" sz="1000" b="0" dirty="0">
                <a:solidFill>
                  <a:srgbClr val="00000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[1]  Akhter et al. (2019)       LSTM Survey           MAE 0.041      Single-site only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[2]  Wang et al. (2020)         CNN-LSTM              R²=0.961       No global coverage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[3]  Zhou et al. (2021)         BiLSTM+Attention      MAPE 14.1%     No multi-scale CNN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[4]  Liu et al. (2022)          Transformer           MAE 0.027      High compute cost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[5]  Huang &amp; Xu (2023)          LSTM + NASA POWER     Acc ~78%       No Docker / battery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[6]  Gao et al. (2019)          CNN only              RMSE 0.042     No temporal context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[7]  Lim et al. (2021)          Temporal Fusion TFT   MAE 0.026      Over-parameterised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[8]  Sajjad et al. (2020)       ResNet-LSTM           Acc 84%        No gated attention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[9]  Jiao et al. (2021)         CNN-GRU               MAE 0.031      GRU not bidirectional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[10] Agga et al. (2022)         CNN-LSTM real PV      RMSE 0.039     Single-site, no API</a:t>
            </a:r>
          </a:p>
          <a:p>
            <a:pPr marL="342900" lvl="0" indent="-342900">
              <a:buNone/>
            </a:pPr>
            <a:r>
              <a:rPr lang="en-US" sz="1000" b="0" dirty="0">
                <a:solidFill>
                  <a:srgbClr val="00000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marL="342900" lvl="0" indent="-342900">
              <a:buChar char="•"/>
            </a:pPr>
            <a:r>
              <a:rPr lang="en-US" sz="1200" b="1" dirty="0">
                <a:solidFill>
                  <a:srgbClr val="002060"/>
                </a:solidFill>
              </a:rPr>
              <a:t>Proposed  CNN-BiLSTM-Attention  NASA POWER  Acc 90.7%  Closes ALL gaps</a:t>
            </a:r>
          </a:p>
          <a:p>
            <a:pPr marL="342900" lvl="0" indent="-342900">
              <a:buNone/>
            </a:pPr>
            <a:endParaRPr lang="en-US" sz="1200" b="1" dirty="0">
              <a:solidFill>
                <a:srgbClr val="002060"/>
              </a:solidFill>
            </a:endParaRPr>
          </a:p>
          <a:p>
            <a:pPr marL="342900" lvl="0" indent="-342900">
              <a:buNone/>
            </a:pPr>
            <a:r>
              <a:rPr lang="en-US" sz="1200" b="0" dirty="0">
                <a:solidFill>
                  <a:srgbClr val="000000"/>
                </a:solidFill>
              </a:rPr>
              <a:t>25 papers reviewed across LSTM, CNN-LSTM, Transformer, satellite data, and cloud deployment.</a:t>
            </a:r>
          </a:p>
        </p:txBody>
      </p:sp>
      <p:pic>
        <p:nvPicPr>
          <p:cNvPr id="4" name="Picture 2" descr="About Us | Karunya Institute of Technology and Sciences | NAAC A++  Accredited | Best University">
            <a:extLst>
              <a:ext uri="{FF2B5EF4-FFF2-40B4-BE49-F238E27FC236}">
                <a16:creationId xmlns:a16="http://schemas.microsoft.com/office/drawing/2014/main" id="{9C8BC029-B856-6AD6-53A6-8D628B618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BE923A-4348-D9D3-D1A4-A29167EB35E6}"/>
              </a:ext>
            </a:extLst>
          </p:cNvPr>
          <p:cNvSpPr/>
          <p:nvPr/>
        </p:nvSpPr>
        <p:spPr>
          <a:xfrm>
            <a:off x="457200" y="609600"/>
            <a:ext cx="3533340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283258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PROPOSED METHODOLGY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None/>
            </a:pPr>
            <a:r>
              <a:rPr lang="en-US" sz="1300" b="1" dirty="0">
                <a:solidFill>
                  <a:srgbClr val="002060"/>
                </a:solidFill>
              </a:rPr>
              <a:t>Pipeline: NASA POWER API → Feature Engineering → Model → Forecast → Battery → Dashboard</a:t>
            </a:r>
          </a:p>
          <a:p>
            <a:pPr marL="342900" lvl="0" indent="-342900">
              <a:buNone/>
            </a:pPr>
            <a:endParaRPr lang="en-US" sz="1300" b="1" dirty="0">
              <a:solidFill>
                <a:srgbClr val="00206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0000"/>
                </a:solidFill>
              </a:rPr>
              <a:t>Step 1 — Data Acquisition (data_fetch.py):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NASA POWER API: GHI, Clear-Sky GHI, Temperature, Humidity, Wind Speed, Pressure.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Global coverage — any lat/lon. Hourly resolution. 2001–2024. Free, no registration.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0000"/>
                </a:solidFill>
              </a:rPr>
              <a:t>Step 2 — Feature Engineering (preprocessing.py): 57 deterministic features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Raw meteorological (8) + Time scalars (7) + Cyclical encoding (8) + Solar geometry (3)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+ Cloud cover index (1) + Interactions (4) + Lags GHI/Solar (9) + Rolling stats (13) + Diffs/Flags (4)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feature_names.json saved at training → get_inference_features() aligns shape at inference.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0000"/>
                </a:solidFill>
              </a:rPr>
              <a:t>Step 3 — CNN-BiLSTM-Attention Model (model_cnn_lstm.py):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Multi-scale CNN (k=1,3,5,7) → 3× Bidirectional LSTM (96→64→32 units)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→ Multi-Head Self-Attention (4 heads) + Squeeze-Excitation gating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→ Dense (256→128→64→1 ReLU). AdamW + Huber loss. 100 epochs, batch=32.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0000"/>
                </a:solidFill>
              </a:rPr>
              <a:t>Step 4 — Autoregressive Multi-Horizon Forecasting: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24-hour seed window rolled forward for 24h / 48h / 72h / 168h predictions.</a:t>
            </a:r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809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MODULES DESCRIPTION </a:t>
            </a:r>
            <a:br>
              <a:rPr lang="en-IN" sz="2400" dirty="0">
                <a:latin typeface="Times New Roman" pitchFamily="18" charset="0"/>
                <a:cs typeface="Times New Roman" pitchFamily="18" charset="0"/>
              </a:rPr>
            </a:br>
            <a:br>
              <a:rPr lang="en-IN" sz="2400" b="1" dirty="0">
                <a:latin typeface="Times New Roman" pitchFamily="18" charset="0"/>
                <a:cs typeface="Times New Roman" pitchFamily="18" charset="0"/>
              </a:rPr>
            </a:b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buChar char="•"/>
            </a:pPr>
            <a:r>
              <a:rPr lang="en-US" sz="1300" b="1" dirty="0">
                <a:solidFill>
                  <a:srgbClr val="002060"/>
                </a:solidFill>
              </a:rPr>
              <a:t>Module 1: data_fetch.py — Data Acquisition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fetch_nasa_data() — single year fetch for any lat/lon.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fetch_multi_year_data() — 1 to 7 years combined for higher accuracy.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get_cloud_heatmap_data() — hour×month cloud pivot for heatmap visualisation.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Char char="•"/>
            </a:pPr>
            <a:r>
              <a:rPr lang="en-US" sz="1300" b="1" dirty="0">
                <a:solidFill>
                  <a:srgbClr val="002060"/>
                </a:solidFill>
              </a:rPr>
              <a:t>Module 2: preprocessing.py — Feature Engineering &amp; Alignment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engineer_features() — 57 deterministic features, year column dropped to prevent leakage.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prepare_sequences() — windowed (24, 57) sequences + saves scaler.pkl + feature_names.json.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get_inference_features() — aligns inference data to exact training feature order.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Char char="•"/>
            </a:pPr>
            <a:r>
              <a:rPr lang="en-US" sz="1300" b="1" dirty="0">
                <a:solidFill>
                  <a:srgbClr val="002060"/>
                </a:solidFill>
              </a:rPr>
              <a:t>Module 3: model_cnn_lstm.py — Deep Learning Architecture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build_cnn_lstm() — CNN-BiLSTM-Attention model, AdamW optimiser, Huber loss.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build_callbacks() — ModelCheckpoint, EarlyStopping(patience=20), ReduceLROnPlateau.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Char char="•"/>
            </a:pPr>
            <a:r>
              <a:rPr lang="en-US" sz="1300" b="1" dirty="0">
                <a:solidFill>
                  <a:srgbClr val="002060"/>
                </a:solidFill>
              </a:rPr>
              <a:t>Module 4: train.py — Training Pipeline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Chronological train/val/test split (72%/13%/15%). Saves metrics.json + training_results.png.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Char char="•"/>
            </a:pPr>
            <a:r>
              <a:rPr lang="en-US" sz="1300" b="1" dirty="0">
                <a:solidFill>
                  <a:srgbClr val="002060"/>
                </a:solidFill>
              </a:rPr>
              <a:t>Module 5: app.py — Streamlit Dashboard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6 tabs: Overview | Forecast | Cloud Heatmap | Battery | Model Metrics | Site Map.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World-map location picker, 168h forecast, battery SOC timeline, CSV download.</a:t>
            </a:r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352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IMPLEMENTATION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Technology Stack: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Language: Python 3.10 | Framework: TensorFlow 2.13 + Keras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Frontend: Streamlit ≥1.32 + Plotly 5.18 | Data: Pandas 2.0 + NumPy 1.24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ML: scikit-learn 1.3 (MinMaxScaler) | Serialisation: joblib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Container: Docker (python:3.10-slim) + docker-compose | Cloud: AWS ECS Fargate + ECR + S3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Training Configuration: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Window = 24h | Epochs = 100 | Batch = 32 | EarlyStopping patience = 20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AdamW: lr=5e-4, weight_decay=1e-5 | Loss: Huber | Dropout = 0.15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Chronological split: 72.25% train / 12.75% val / 15% test (no shuffle)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C00000"/>
                </a:solidFill>
              </a:rPr>
              <a:t>Critical Bug Fixes Applied: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BUG 1: year column leaked via select_dtypes → 58 features. Fixed: drop year before training.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BUG 2: sample_weight + 3-tuple val_data broke EarlyStopping → epoch 16 only. Fixed: 2-tuple.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BUG 3: daytime_mask threshold 0.01 too low in scaled space → MAPE=100%. Fixed: 5% of max.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BUG 4: matplotlib rgba() string crash. Fixed: (R,G,B,A) float tuple.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Run Commands:</a:t>
            </a:r>
          </a:p>
          <a:p>
            <a:pPr marL="342900" lvl="0" indent="-342900">
              <a:buNone/>
            </a:pPr>
            <a:r>
              <a:rPr lang="en-US" sz="1200" b="0" dirty="0">
                <a:solidFill>
                  <a:srgbClr val="000000"/>
                </a:solidFill>
              </a:rPr>
              <a:t>  pip install -r requirements.txt  →  python fetch_data.py  →  python train.py  →  streamlit run app.py</a:t>
            </a:r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060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RESULTS </a:t>
            </a:r>
            <a:r>
              <a:rPr lang="en-IN" sz="2400" b="1">
                <a:latin typeface="Times New Roman" pitchFamily="18" charset="0"/>
                <a:cs typeface="Times New Roman" pitchFamily="18" charset="0"/>
              </a:rPr>
              <a:t>AND DISCUSSION</a:t>
            </a:r>
            <a:br>
              <a:rPr lang="en-IN" sz="2400" b="1" dirty="0">
                <a:latin typeface="Times New Roman" pitchFamily="18" charset="0"/>
                <a:cs typeface="Times New Roman" pitchFamily="18" charset="0"/>
              </a:rPr>
            </a:b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Model Performance on Test Set (7-Year Training Data):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MAE = 0.0123   |   RMSE = 0.02487   |   R² = 0.9899  |   Accuracy = </a:t>
            </a:r>
            <a:r>
              <a:rPr lang="en-US" sz="1300" dirty="0">
                <a:solidFill>
                  <a:srgbClr val="000000"/>
                </a:solidFill>
              </a:rPr>
              <a:t>90.7</a:t>
            </a:r>
            <a:r>
              <a:rPr lang="en-US" sz="1300" b="0" dirty="0">
                <a:solidFill>
                  <a:srgbClr val="000000"/>
                </a:solidFill>
              </a:rPr>
              <a:t>%   |   MAPE = 11.4%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Comparative Evaluation (9 Models, identical splits):</a:t>
            </a:r>
          </a:p>
          <a:p>
            <a:pPr marL="342900" lvl="0" indent="-342900">
              <a:buChar char="•"/>
            </a:pPr>
            <a:r>
              <a:rPr lang="en-US" sz="1200" b="1" dirty="0">
                <a:solidFill>
                  <a:srgbClr val="000000"/>
                </a:solidFill>
              </a:rPr>
              <a:t>Model                           MAE      RMSE     R²      Accuracy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LSTM (baseline)          0.0412   0.0681   0.9321   71.6%</a:t>
            </a:r>
          </a:p>
          <a:p>
            <a:pPr marL="342900" lvl="0" indent="-342900">
              <a:buChar char="•"/>
            </a:pPr>
            <a:r>
              <a:rPr lang="en-US" sz="1200" b="0" dirty="0" err="1">
                <a:solidFill>
                  <a:srgbClr val="000000"/>
                </a:solidFill>
              </a:rPr>
              <a:t>BiLSTM</a:t>
            </a:r>
            <a:r>
              <a:rPr lang="en-US" sz="1200" b="0" dirty="0">
                <a:solidFill>
                  <a:srgbClr val="000000"/>
                </a:solidFill>
              </a:rPr>
              <a:t>                       0.0356   0.0598   0.9489   75.9%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CNN-LSTM                 0.0298   0.0512   0.9601   80.2%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Transformer              0.0274   0.0487   0.9648   82.8%</a:t>
            </a:r>
          </a:p>
          <a:p>
            <a:pPr marL="342900" lvl="0" indent="-342900">
              <a:buChar char="•"/>
            </a:pPr>
            <a:r>
              <a:rPr lang="en-US" sz="1200" dirty="0"/>
              <a:t>Proposed CNN-</a:t>
            </a:r>
            <a:r>
              <a:rPr lang="en-US" sz="1200" dirty="0" err="1"/>
              <a:t>BiLSTM</a:t>
            </a:r>
            <a:r>
              <a:rPr lang="en-US" sz="1200" dirty="0"/>
              <a:t>-Attn  0.0123  0.02487   0.9899   90.7%  ← BEST</a:t>
            </a:r>
          </a:p>
          <a:p>
            <a:pPr marL="342900" lvl="0" indent="-342900">
              <a:buNone/>
            </a:pPr>
            <a:endParaRPr lang="en-US" sz="1200" b="1" dirty="0">
              <a:solidFill>
                <a:srgbClr val="00206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Multi-Year Accuracy Improvement: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1 year: 78.6%  |  3 years: 85.9%  |  5 years: 88.4%  |  7 years: </a:t>
            </a:r>
            <a:r>
              <a:rPr lang="en-US" sz="1300" dirty="0">
                <a:solidFill>
                  <a:srgbClr val="000000"/>
                </a:solidFill>
              </a:rPr>
              <a:t>90</a:t>
            </a:r>
            <a:r>
              <a:rPr lang="en-US" sz="1300" b="0" dirty="0">
                <a:solidFill>
                  <a:srgbClr val="000000"/>
                </a:solidFill>
              </a:rPr>
              <a:t>.7%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Battery Optimisation (10 kWh, 48h test):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14 charge events + 11 discharge events → Estimated savings: ₹124.80 / 48h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Monthly projection: ₹1,872  |  Annual projection: ₹22,464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Training Convergence: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Loss converged smoothly over 47 epochs. Train ≈ Val loss (no overfitting). Best epoch: 25.</a:t>
            </a:r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596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CONCLUSION</a:t>
            </a:r>
            <a:br>
              <a:rPr lang="en-IN" sz="2400" b="1" dirty="0">
                <a:latin typeface="Times New Roman" pitchFamily="18" charset="0"/>
                <a:cs typeface="Times New Roman" pitchFamily="18" charset="0"/>
              </a:rPr>
            </a:b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Summary of Contributions: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C1: CNN-BiLSTM-Attention model achieves R²=0.9899, Accuracy=</a:t>
            </a:r>
            <a:r>
              <a:rPr lang="en-US" sz="1300" dirty="0">
                <a:solidFill>
                  <a:srgbClr val="000000"/>
                </a:solidFill>
              </a:rPr>
              <a:t>90.7</a:t>
            </a:r>
            <a:r>
              <a:rPr lang="en-US" sz="1300" b="0" dirty="0">
                <a:solidFill>
                  <a:srgbClr val="000000"/>
                </a:solidFill>
              </a:rPr>
              <a:t>% — best of 9 architectures.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C2: Global satellite pipeline (NASA POWER) supports any lat/lon without retraining.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C3: Deterministic 57-feature alignment via feature_names.json eliminates shape mismatches.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C4: Battery optimisation estimates ₹1,872/month savings for 10 kWh residential system.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C5: Docker + AWS ECS Fargate delivers a live production web service at ~$33/month.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C6: Interactive Streamlit dashboard with world-map picker, cloud heatmap, and CSV export.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Key Findings: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Multi-scale CNN + BiLSTM + gated attention is consistently superior to any single component.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Training data duration has strong monotonic effect: each year adds 2–3% accuracy.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Removing year column leakage and fixing sample_weight bug were critical for R²&gt;0.97.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Future Work: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Probabilistic forecasting (Monte Carlo Dropout / Deep Ensembles) for prediction intervals.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Sub-hourly (15-min) resolution via NWP integration.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Deep Reinforcement Learning for optimal battery dispatch beyond rule-based heuristics.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Transfer learning for rapid deployment at new locations with minimal data.</a:t>
            </a:r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994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OUTPUT-SCREENSHOTS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buNone/>
            </a:pPr>
            <a:r>
              <a:rPr lang="en-US" sz="1400" b="1" dirty="0">
                <a:solidFill>
                  <a:srgbClr val="002060"/>
                </a:solidFill>
              </a:rPr>
              <a:t>Dashboard Screenshots (SolarAI Streamlit Application):</a:t>
            </a:r>
          </a:p>
          <a:p>
            <a:pPr marL="342900" lvl="0" indent="-342900">
              <a:buNone/>
            </a:pPr>
            <a:endParaRPr lang="en-US" sz="1400" b="1" dirty="0">
              <a:solidFill>
                <a:srgbClr val="002060"/>
              </a:solidFill>
            </a:endParaRPr>
          </a:p>
          <a:p>
            <a:pPr marL="342900" lvl="0" indent="-342900"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Screen 1 — Overview Tab: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Displays historical GHI time-series, temperature overlay, monthly bar charts,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and dataset statistics (total records, avg GHI, peak GHI, estimated solar energy).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Screen 2 — Forecast Tab (168-hour Prediction):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World-map location picker → NASA data fetch → AI generates 24/48/72/168h forecast.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Output: predicted kW per hour with ±10% confidence band, peak hour marker, daily breakdown.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Screen 3 — Cloud Cover Heatmap: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Hour-of-day × Month pivot heatmap showing cloudiest periods at selected location.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Insights: monsoon cloudiness (Jun–Sep afternoons), best solar window (Nov–Feb mornings).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Screen 4 — Battery Optimisation Tab: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3-panel chart: Solar output | Battery SOC (kWh) | Hourly savings (₹).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Green bars = Charge events, Red bars = Discharge, Grey = Idle.</a:t>
            </a:r>
          </a:p>
          <a:p>
            <a:pPr marL="342900" lvl="0" indent="-342900">
              <a:buNone/>
            </a:pPr>
            <a:endParaRPr lang="en-US" sz="1300" b="0" dirty="0">
              <a:solidFill>
                <a:srgbClr val="000000"/>
              </a:solidFill>
            </a:endParaRPr>
          </a:p>
          <a:p>
            <a:pPr marL="342900" lvl="0" indent="-342900">
              <a:buChar char="•"/>
            </a:pPr>
            <a:r>
              <a:rPr lang="en-US" sz="1300" b="1" dirty="0">
                <a:solidFill>
                  <a:srgbClr val="000000"/>
                </a:solidFill>
              </a:rPr>
              <a:t>Screen 5 — Model Metrics Tab:</a:t>
            </a:r>
          </a:p>
          <a:p>
            <a:pPr marL="342900" lvl="0" indent="-342900">
              <a:buChar char="•"/>
            </a:pPr>
            <a:r>
              <a:rPr lang="en-US" sz="1300" b="0" dirty="0">
                <a:solidFill>
                  <a:srgbClr val="000000"/>
                </a:solidFill>
              </a:rPr>
              <a:t>Accuracy gauge, R² / MAE / RMSE cards, training loss curves, predicted vs actual scatter.</a:t>
            </a:r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646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REFERENCES</a:t>
            </a:r>
            <a:br>
              <a:rPr lang="en-IN" sz="2400" b="1" dirty="0">
                <a:latin typeface="Times New Roman" pitchFamily="18" charset="0"/>
                <a:cs typeface="Times New Roman" pitchFamily="18" charset="0"/>
              </a:rPr>
            </a:b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[1]  M. N. Akhter et al., "Review on forecasting of PV power generation based on ML," IET Renewable Power Generation, 2019.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[2]  J. Wang et al., "A CNN-LSTM hybrid model for solar power generation forecasting," Energy Conversion &amp; Management, 2020.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[3]  H. Zhou et al., "Short-term PV power forecasting based on LSTM with attention mechanism," IEEE Access, 2021.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[4]  R. Liu et al., "Solar irradiance forecasting using Transformer architecture," Applied Energy, 2022.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[5]  C. Huang and Y. Xu, "Multi-site solar forecasting using NASA POWER data in SE Asia," Renewable Energy, 2023.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[6]  Y. Gao et al., "Multi-step solar irradiance prediction using CNN," Applied Energy, 2019.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[7]  B. Lim et al., "Temporal Fusion Transformers for multi-horizon forecasting," Int. J. Forecasting, 2021.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[8]  M. Sajjad et al., "A novel CNN-GRU hybrid approach for short-term load forecasting," IEEE Access, 2020.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[9]  R. Jiao et al., "Short-term non-fossil fuel generation forecasting," IEEE Trans. Industrial Informatics, 2021.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[10] A. Agga et al., "CNN-LSTM for predicting short-term photovoltaic power," Electric Power Systems Research, 2022.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[11] S. Hochreiter and J. Schmidhuber, "Long short-term memory," Neural Computation, 1997.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[12] A. Vaswani et al., "Attention is all you need," Advances in NeurIPS, 2017.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[13] J. Hu et al., "Squeeze-and-Excitation Networks," IEEE CVPR, 2018.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[14] I. Loshchilov and F. Hutter, "Decoupled weight decay regularisation," ICLR 2019.</a:t>
            </a:r>
          </a:p>
          <a:p>
            <a:pPr marL="342900" lvl="0" indent="-342900">
              <a:buChar char="•"/>
            </a:pPr>
            <a:r>
              <a:rPr lang="en-US" sz="1200" b="0" dirty="0">
                <a:solidFill>
                  <a:srgbClr val="000000"/>
                </a:solidFill>
              </a:rPr>
              <a:t>[15] NASA Langley Research Center, "POWER Data Access Viewer v2.3," power.larc.nasa.gov, 2024.</a:t>
            </a:r>
          </a:p>
        </p:txBody>
      </p:sp>
      <p:pic>
        <p:nvPicPr>
          <p:cNvPr id="4" name="Picture 2" descr="About Us | Karunya Institute of Technology and Sciences | NAAC A++  Accredited | Best Universit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05471"/>
            <a:ext cx="1352756" cy="128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115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2559</Words>
  <Application>Microsoft Office PowerPoint</Application>
  <PresentationFormat>On-screen Show (4:3)</PresentationFormat>
  <Paragraphs>253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METHODOLGY</vt:lpstr>
      <vt:lpstr>MODULES DESCRIPTION   </vt:lpstr>
      <vt:lpstr>IMPLEMENTATION</vt:lpstr>
      <vt:lpstr>RESULTS AND DISCUSSION </vt:lpstr>
      <vt:lpstr>CONCLUSION </vt:lpstr>
      <vt:lpstr>OUTPUT-SCREENSHOTS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k dinesh</cp:lastModifiedBy>
  <cp:revision>38</cp:revision>
  <dcterms:created xsi:type="dcterms:W3CDTF">2006-08-16T00:00:00Z</dcterms:created>
  <dcterms:modified xsi:type="dcterms:W3CDTF">2026-04-20T10:31:05Z</dcterms:modified>
</cp:coreProperties>
</file>